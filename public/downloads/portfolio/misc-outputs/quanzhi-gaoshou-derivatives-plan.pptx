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aa71552f1d43c6" /><Relationship Type="http://schemas.openxmlformats.org/officeDocument/2006/relationships/extended-properties" Target="/docProps/app.xml" Id="R3ce7fe8faebf4825" /><Relationship Type="http://schemas.openxmlformats.org/officeDocument/2006/relationships/officeDocument" Target="/ppt/presentation.xml" Id="R8980c20f780c40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0c20b295994043"/>
  </p:sldMasterIdLst>
  <p:notesMasterIdLst>
    <p:notesMasterId xmlns:r="http://schemas.openxmlformats.org/officeDocument/2006/relationships" r:id="Ra065c2a1e16f41e9"/>
  </p:notesMasterIdLst>
  <p:sldIdLst>
    <p:sldId xmlns:r="http://schemas.openxmlformats.org/officeDocument/2006/relationships" id="256" r:id="R7584179c78a241ca"/>
    <p:sldId xmlns:r="http://schemas.openxmlformats.org/officeDocument/2006/relationships" id="257" r:id="R126523a07cd147a7"/>
    <p:sldId xmlns:r="http://schemas.openxmlformats.org/officeDocument/2006/relationships" id="258" r:id="Ra238948e71894793"/>
    <p:sldId xmlns:r="http://schemas.openxmlformats.org/officeDocument/2006/relationships" id="259" r:id="Rbf3d550add234b28"/>
    <p:sldId xmlns:r="http://schemas.openxmlformats.org/officeDocument/2006/relationships" id="260" r:id="Rbc32b8533f6a4669"/>
    <p:sldId xmlns:r="http://schemas.openxmlformats.org/officeDocument/2006/relationships" id="261" r:id="Rd15600f8951a4cba"/>
    <p:sldId xmlns:r="http://schemas.openxmlformats.org/officeDocument/2006/relationships" id="262" r:id="R665a07df458c423b"/>
    <p:sldId xmlns:r="http://schemas.openxmlformats.org/officeDocument/2006/relationships" id="263" r:id="R68130f87a1524b76"/>
    <p:sldId xmlns:r="http://schemas.openxmlformats.org/officeDocument/2006/relationships" id="264" r:id="R7868aab9bfd64f0b"/>
    <p:sldId xmlns:r="http://schemas.openxmlformats.org/officeDocument/2006/relationships" id="265" r:id="R33c93b3fc5bf4d46"/>
    <p:sldId xmlns:r="http://schemas.openxmlformats.org/officeDocument/2006/relationships" id="266" r:id="R14d098ed55b7477f"/>
    <p:sldId xmlns:r="http://schemas.openxmlformats.org/officeDocument/2006/relationships" id="267" r:id="R73852d63980e47c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0c20b295994043" /><Relationship Type="http://schemas.openxmlformats.org/officeDocument/2006/relationships/theme" Target="/ppt/theme/theme1.xml" Id="R27b6f32bc5904694" /><Relationship Type="http://schemas.openxmlformats.org/officeDocument/2006/relationships/notesMaster" Target="/ppt/notesMasters/notesMaster1.xml" Id="Ra065c2a1e16f41e9" /><Relationship Type="http://schemas.openxmlformats.org/officeDocument/2006/relationships/presProps" Target="/ppt/presProps.xml" Id="R7576c40421cd4206" /><Relationship Type="http://schemas.openxmlformats.org/officeDocument/2006/relationships/viewProps" Target="/ppt/viewProps.xml" Id="R0d036118277a4a9f" /><Relationship Type="http://schemas.openxmlformats.org/officeDocument/2006/relationships/tableStyles" Target="/ppt/tableStyles.xml" Id="Rca61959d304249fe" /><Relationship Type="http://schemas.openxmlformats.org/officeDocument/2006/relationships/slide" Target="/ppt/slides/slide1.xml" Id="R7584179c78a241ca" /><Relationship Type="http://schemas.openxmlformats.org/officeDocument/2006/relationships/slide" Target="/ppt/slides/slide2.xml" Id="R126523a07cd147a7" /><Relationship Type="http://schemas.openxmlformats.org/officeDocument/2006/relationships/slide" Target="/ppt/slides/slide3.xml" Id="Ra238948e71894793" /><Relationship Type="http://schemas.openxmlformats.org/officeDocument/2006/relationships/slide" Target="/ppt/slides/slide4.xml" Id="Rbf3d550add234b28" /><Relationship Type="http://schemas.openxmlformats.org/officeDocument/2006/relationships/slide" Target="/ppt/slides/slide5.xml" Id="Rbc32b8533f6a4669" /><Relationship Type="http://schemas.openxmlformats.org/officeDocument/2006/relationships/slide" Target="/ppt/slides/slide6.xml" Id="Rd15600f8951a4cba" /><Relationship Type="http://schemas.openxmlformats.org/officeDocument/2006/relationships/slide" Target="/ppt/slides/slide7.xml" Id="R665a07df458c423b" /><Relationship Type="http://schemas.openxmlformats.org/officeDocument/2006/relationships/slide" Target="/ppt/slides/slide8.xml" Id="R68130f87a1524b76" /><Relationship Type="http://schemas.openxmlformats.org/officeDocument/2006/relationships/slide" Target="/ppt/slides/slide9.xml" Id="R7868aab9bfd64f0b" /><Relationship Type="http://schemas.openxmlformats.org/officeDocument/2006/relationships/slide" Target="/ppt/slides/slide10.xml" Id="R33c93b3fc5bf4d46" /><Relationship Type="http://schemas.openxmlformats.org/officeDocument/2006/relationships/slide" Target="/ppt/slides/slide11.xml" Id="R14d098ed55b7477f" /><Relationship Type="http://schemas.openxmlformats.org/officeDocument/2006/relationships/slide" Target="/ppt/slides/slide12.xml" Id="R73852d63980e47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b08a55460bf49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Glory Merchandise">
  <a:themeElements>
    <a:clrScheme name="Glory Merchandise">
      <a:accent1>
        <a:srgbClr val="D94040"/>
      </a:accent1>
      <a:accent2>
        <a:srgbClr val="2D6CDF"/>
      </a:accent2>
      <a:accent3>
        <a:srgbClr val="F6C453"/>
      </a:accent3>
      <a:accent4>
        <a:srgbClr val="55D6BE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lory Merchandis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294540001649a9" /><Relationship Type="http://schemas.openxmlformats.org/officeDocument/2006/relationships/notesMaster" Target="/ppt/notesMasters/notesMaster1.xml" Id="R57dbc43355cb48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7706053bd84396" /><Relationship Type="http://schemas.openxmlformats.org/officeDocument/2006/relationships/notesMaster" Target="/ppt/notesMasters/notesMaster1.xml" Id="R70de0f06c1844b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c34a8a57104d68" /><Relationship Type="http://schemas.openxmlformats.org/officeDocument/2006/relationships/notesMaster" Target="/ppt/notesMasters/notesMaster1.xml" Id="Rfa86baeef26d44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785b9c6e094065" /><Relationship Type="http://schemas.openxmlformats.org/officeDocument/2006/relationships/notesMaster" Target="/ppt/notesMasters/notesMaster1.xml" Id="Raf024fc073a94d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5a8bdcee464a3d" /><Relationship Type="http://schemas.openxmlformats.org/officeDocument/2006/relationships/notesMaster" Target="/ppt/notesMasters/notesMaster1.xml" Id="R21690ac99e2f47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98cecea6054263" /><Relationship Type="http://schemas.openxmlformats.org/officeDocument/2006/relationships/notesMaster" Target="/ppt/notesMasters/notesMaster1.xml" Id="R431f2e3b323b46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8d92223eff4f0f" /><Relationship Type="http://schemas.openxmlformats.org/officeDocument/2006/relationships/notesMaster" Target="/ppt/notesMasters/notesMaster1.xml" Id="Rb6868599e26d44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5ced9b2e484beb" /><Relationship Type="http://schemas.openxmlformats.org/officeDocument/2006/relationships/notesMaster" Target="/ppt/notesMasters/notesMaster1.xml" Id="R30a38c2495d447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29c15922a142d5" /><Relationship Type="http://schemas.openxmlformats.org/officeDocument/2006/relationships/notesMaster" Target="/ppt/notesMasters/notesMaster1.xml" Id="Reed51060465649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1182f2e5e249cf" /><Relationship Type="http://schemas.openxmlformats.org/officeDocument/2006/relationships/notesMaster" Target="/ppt/notesMasters/notesMaster1.xml" Id="R3d391f13a5fb42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cf3c91f364461e" /><Relationship Type="http://schemas.openxmlformats.org/officeDocument/2006/relationships/notesMaster" Target="/ppt/notesMasters/notesMaster1.xml" Id="Rb2c49209b4f349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969af0416074ec4" /><Relationship Type="http://schemas.openxmlformats.org/officeDocument/2006/relationships/notesMaster" Target="/ppt/notesMasters/notesMaster1.xml" Id="Rc8cefbd8e1f944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ee5d4585eb425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182A651C-6FEE-4164-8B2F-5D989DF5ACF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6DA6F26E-1E8E-46B4-961C-D2B80D6E7FB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511E966-6D0D-443E-8E22-4B2CF4F7A2A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B00C1DA-0D2E-42BB-8326-74DEC7DBDD5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854240-8967-4BCE-A1F0-522E1166CAC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92639ec0dd74f57" /><Relationship Type="http://schemas.openxmlformats.org/officeDocument/2006/relationships/slideLayout" Target="/ppt/slideLayouts/slideLayout2.xml" Id="R24d82d5fdc7e4f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F59AA67-D2D0-45E6-A90C-3DF1FB624D80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d82d5fdc7e4f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1b49aca9b24548" /><Relationship Type="http://schemas.openxmlformats.org/officeDocument/2006/relationships/image" Target="/ppt/media/image.png" Id="R8e97802e495f43e2" /><Relationship Type="http://schemas.openxmlformats.org/officeDocument/2006/relationships/notesSlide" Target="/ppt/notesSlides/notesSlide1.xml" Id="R5d3adeabc3294f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6aa57879554354" /><Relationship Type="http://schemas.openxmlformats.org/officeDocument/2006/relationships/notesSlide" Target="/ppt/notesSlides/notesSlide2.xml" Id="R80612bcba0d34b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8d45269875433c" /><Relationship Type="http://schemas.openxmlformats.org/officeDocument/2006/relationships/notesSlide" Target="/ppt/notesSlides/notesSlide3.xml" Id="R81a3c047d99c46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78e693473d4a53" /><Relationship Type="http://schemas.openxmlformats.org/officeDocument/2006/relationships/notesSlide" Target="/ppt/notesSlides/notesSlide4.xml" Id="R5cbfe978cf1540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3dadd06a714c7e" /><Relationship Type="http://schemas.openxmlformats.org/officeDocument/2006/relationships/image" Target="/ppt/media/image2.png" Id="R4608165303b349b5" /><Relationship Type="http://schemas.openxmlformats.org/officeDocument/2006/relationships/notesSlide" Target="/ppt/notesSlides/notesSlide5.xml" Id="R1fbe23628d4b46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263043a8254d65" /><Relationship Type="http://schemas.openxmlformats.org/officeDocument/2006/relationships/image" Target="/ppt/media/image3.png" Id="Rf8b9a27d201d4a63" /><Relationship Type="http://schemas.openxmlformats.org/officeDocument/2006/relationships/notesSlide" Target="/ppt/notesSlides/notesSlide6.xml" Id="R0ef5cbde79a145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79b96dc99d4f1e" /><Relationship Type="http://schemas.openxmlformats.org/officeDocument/2006/relationships/image" Target="/ppt/media/image4.png" Id="Ra817f35f66e147c3" /><Relationship Type="http://schemas.openxmlformats.org/officeDocument/2006/relationships/notesSlide" Target="/ppt/notesSlides/notesSlide7.xml" Id="R814bae3829ec48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cad000d0804f6c" /><Relationship Type="http://schemas.openxmlformats.org/officeDocument/2006/relationships/image" Target="/ppt/media/image5.png" Id="R2948b73a14124944" /><Relationship Type="http://schemas.openxmlformats.org/officeDocument/2006/relationships/image" Target="/ppt/media/image6.png" Id="Rd6bf7539c20b4fa3" /><Relationship Type="http://schemas.openxmlformats.org/officeDocument/2006/relationships/notesSlide" Target="/ppt/notesSlides/notesSlide8.xml" Id="Re5d730a56dc245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123146f15a4d1d" /><Relationship Type="http://schemas.openxmlformats.org/officeDocument/2006/relationships/image" Target="/ppt/media/image7.png" Id="R6cf718947b554e56" /><Relationship Type="http://schemas.openxmlformats.org/officeDocument/2006/relationships/notesSlide" Target="/ppt/notesSlides/notesSlide9.xml" Id="Re9db1263002b4e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61d22c51634b7a" /><Relationship Type="http://schemas.openxmlformats.org/officeDocument/2006/relationships/notesSlide" Target="/ppt/notesSlides/notesSlide10.xml" Id="R31744ea3c2ce4ed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da26bdbab9468b" /><Relationship Type="http://schemas.openxmlformats.org/officeDocument/2006/relationships/notesSlide" Target="/ppt/notesSlides/notesSlide11.xml" Id="R1cbd8db32f064b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46c30fdd2d4661" /><Relationship Type="http://schemas.openxmlformats.org/officeDocument/2006/relationships/notesSlide" Target="/ppt/notesSlides/notesSlide12.xml" Id="R332b0c042a974b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854240-8967-4BCE-A1F0-522E1166CA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351BA-BBF5-458F-A9BE-15909D19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D85621-2B1F-4B78-A3BA-6F74F3A4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-114300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EEF497-F1AC-4CED-8DC5-1CD07DC6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3850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453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74559-5C0E-4E3F-A5CE-68071D96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609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荣耀赛季补给站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E5F523-E21E-4C5F-83B7-4FD340F3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590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3623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C453"/>
                </a:solidFill>
              </a:defRPr>
            </a:pPr>
            <a:r>
              <a:rPr sz="2100" b="1">
                <a:solidFill>
                  <a:srgbClr val="F6C453"/>
                </a:solidFill>
              </a:rPr>
              <a:t>《全职高手》IP 衍生品策划案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11F65-C8C6-4B9C-AE3F-CB9E9B5B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CE8F7"/>
                </a:solidFill>
              </a:defRPr>
            </a:pPr>
            <a:r>
              <a:rPr sz="1575" b="0">
                <a:solidFill>
                  <a:srgbClr val="DCE8F7"/>
                </a:solidFill>
              </a:rPr>
              <a:t>用户画像 · 品类企划 · 工艺建议 · 线上抽赏 · 线下打卡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97802e495f43e2"/>
          <a:stretch xmlns:a="http://schemas.openxmlformats.org/drawingml/2006/main"/>
        </p:blipFill>
        <p:spPr>
          <a:xfrm xmlns:a="http://schemas.openxmlformats.org/drawingml/2006/main">
            <a:off x="6667500" y="1952625"/>
            <a:ext cx="4286250" cy="2857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36D248-55C9-4B56-9847-FCD2B4A4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公开资料截至 2026-05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461DF-771C-4E11-A972-92E0C3B6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71500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4040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阅文 IP 衍生品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995CE8-1D8A-4DA2-9D98-720D0154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3A5"/>
                </a:solidFill>
              </a:defRPr>
            </a:pPr>
            <a:r>
              <a:rPr sz="900" b="0">
                <a:solidFill>
                  <a:srgbClr val="8A93A5"/>
                </a:solidFill>
              </a:rPr>
              <a:t>《全职高手》衍生品策划案 | 原创示意图，不含未授权同人图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68FE7B-DD37-4039-8F59-FE339F47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254171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854240-8967-4BCE-A1F0-522E1166CA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D578B-C7F2-49F8-A70B-AE6E9222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</a:defRPr>
            </a:pPr>
            <a:r>
              <a:rPr sz="2550" b="1">
                <a:solidFill>
                  <a:srgbClr val="17243A"/>
                </a:solidFill>
              </a:rPr>
              <a:t>为什么现在做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5436A-E9F3-4F5B-900C-9B3CD3F8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00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动画节点、生日应援和谷子经济共同提供新品窗口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1A5223-0C54-4DF2-BC7F-BA5553E8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0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3C4579-9DF4-480E-AA99-7203A0DC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2573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6FD60-28B5-4B27-B18C-07A0981E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3238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FF04DE-0E5B-480C-AF0C-1FB6D02E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0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F6CF7-27F1-4003-A573-096D00E6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289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011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1F2A"/>
                </a:solidFill>
              </a:defRPr>
            </a:pPr>
            <a:r>
              <a:rPr sz="1500" b="1">
                <a:solidFill>
                  <a:srgbClr val="1B1F2A"/>
                </a:solidFill>
              </a:rPr>
              <a:t>动画三季收官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2469A2-9262-489F-9AAC-DB5A54E7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2895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2024 年第三季进入兴欣挑战赛胜利、重返职业赛场关键节点，适合“冠军入场”“赛季补给”主题。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E6851-F18C-4FC5-ADF5-9C99F7E0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38300"/>
            <a:ext cx="3238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108269-FEFF-4100-8261-E349F7CC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3830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3BFAFC-4782-4316-AA65-49FCA27A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09750"/>
            <a:ext cx="289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011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1F2A"/>
                </a:solidFill>
              </a:defRPr>
            </a:pPr>
            <a:r>
              <a:rPr sz="1500" b="1">
                <a:solidFill>
                  <a:srgbClr val="1B1F2A"/>
                </a:solidFill>
              </a:rPr>
              <a:t>角色仪式感强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600182-42F7-4675-A390-CF2D8934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09800"/>
            <a:ext cx="2895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2025 年叶修生日出现多城主题巴士、地铁站点、大屏和品牌联动，证明核心角色仍有线下动员力。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C8FFA4-E001-42EC-8E43-F3B652DC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38300"/>
            <a:ext cx="3238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32553D-56E8-4B9C-89C4-93F60FB2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3830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046F67-A40D-4E66-ADF7-2AC0128F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09750"/>
            <a:ext cx="289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011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1F2A"/>
                </a:solidFill>
              </a:defRPr>
            </a:pPr>
            <a:r>
              <a:rPr sz="1500" b="1">
                <a:solidFill>
                  <a:srgbClr val="1B1F2A"/>
                </a:solidFill>
              </a:rPr>
              <a:t>谷子经济扩张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E03C10-2E69-41B3-B7F5-D6F70F7A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09800"/>
            <a:ext cx="2895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公开行业观察提到 2024 年国内谷子经济规模约 1689 亿元，预计 2029 年达 3089 亿元。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9898EA-727E-4E8A-A67D-923BA045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777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43A"/>
                </a:solidFill>
              </a:defRPr>
            </a:pPr>
            <a:r>
              <a:rPr sz="2100" b="1">
                <a:solidFill>
                  <a:srgbClr val="17243A"/>
                </a:solidFill>
              </a:rPr>
              <a:t>策略判断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277F88-AF79-4D33-85D9-DD245B7C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10363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B1F2A"/>
                </a:solidFill>
              </a:defRPr>
            </a:pPr>
            <a:r>
              <a:rPr sz="1950" b="0">
                <a:solidFill>
                  <a:srgbClr val="1B1F2A"/>
                </a:solidFill>
              </a:rPr>
              <a:t>《全职高手》的优势不只是“角色多”，而是角色、战队、账号卡、比赛节点都能商品化；低价随机款负责拉新，高价展示款负责承接，高频线下场景负责传播。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765DBD-4095-4357-8450-A5B1188E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830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3"/>
                </a:solidFill>
              </a:defRPr>
            </a:pPr>
            <a:r>
              <a:rPr sz="1125" b="0">
                <a:solidFill>
                  <a:srgbClr val="657083"/>
                </a:solidFill>
              </a:rPr>
              <a:t>资料参考：中国青年报/新浪财经、TechWeb/新浪科技、中国银行宏观观察、艺恩行业洞察。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A405C6-71A6-4192-9112-7F7A27BF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3A5"/>
                </a:solidFill>
              </a:defRPr>
            </a:pPr>
            <a:r>
              <a:rPr sz="900" b="0">
                <a:solidFill>
                  <a:srgbClr val="8A93A5"/>
                </a:solidFill>
              </a:rPr>
              <a:t>《全职高手》衍生品策划案 | 原创示意图，不含未授权同人图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C271E8-D1A9-44A9-B0D4-67FADE56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720840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854240-8967-4BCE-A1F0-522E1166CA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66206-9E88-4429-8CE4-523C908D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</a:defRPr>
            </a:pPr>
            <a:r>
              <a:rPr sz="2550" b="1">
                <a:solidFill>
                  <a:srgbClr val="17243A"/>
                </a:solidFill>
              </a:rPr>
              <a:t>IP 商品化资产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0AA54-6A0B-40DA-A06F-2E18FD92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00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从剧情情绪到可生产符号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F4871-C2CB-4E0D-9DBD-9A278D39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0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64B2F-0C09-43BD-96F2-D435B2AF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2573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4BA3C-7E42-4399-8F01-E457B251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238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567355-DF11-4B11-9608-0E0CC73A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0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F82D9B-E117-42A3-814B-A6276339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289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011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1F2A"/>
                </a:solidFill>
              </a:defRPr>
            </a:pPr>
            <a:r>
              <a:rPr sz="1500" b="1">
                <a:solidFill>
                  <a:srgbClr val="1B1F2A"/>
                </a:solidFill>
              </a:rPr>
              <a:t>电竞燃点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6F202-B41B-402E-B00F-59EC37C3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2895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挑战赛、冠军、重返职业赛场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E2E35-D9A5-4B35-A3ED-9C01212E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238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A9F9BA-21E5-4452-A1CC-4963E4F7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5857A6-7D3C-4A6F-8875-A7E0C4C5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85950"/>
            <a:ext cx="289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011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1F2A"/>
                </a:solidFill>
              </a:defRPr>
            </a:pPr>
            <a:r>
              <a:rPr sz="1500" b="1">
                <a:solidFill>
                  <a:srgbClr val="1B1F2A"/>
                </a:solidFill>
              </a:rPr>
              <a:t>角色信仰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2CA583-96FB-4160-8526-57DE48F9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86000"/>
            <a:ext cx="2895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叶修、苏沐橙、黄少天、周泽楷等高辨识角色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182FB2-1341-4CD4-A1BE-30D3A165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3238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62A2D7-1935-4999-857B-C4EA3893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2F3033-72D9-4EE7-83AB-A54886A9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85950"/>
            <a:ext cx="289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011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1F2A"/>
                </a:solidFill>
              </a:defRPr>
            </a:pPr>
            <a:r>
              <a:rPr sz="1500" b="1">
                <a:solidFill>
                  <a:srgbClr val="1B1F2A"/>
                </a:solidFill>
              </a:rPr>
              <a:t>战队身份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6304F7-D558-4867-B787-32BEB263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2895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兴欣/蓝雨/轮回/微草/霸图等阵营色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CE1161-4658-490A-9880-6D588852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3238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5B6BA4-E8AA-46D9-97F7-0595B35E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3E9BF8-639A-4DF9-9ED7-3D61EAD7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289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011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1F2A"/>
                </a:solidFill>
              </a:defRPr>
            </a:pPr>
            <a:r>
              <a:rPr sz="1500" b="1">
                <a:solidFill>
                  <a:srgbClr val="1B1F2A"/>
                </a:solidFill>
              </a:rPr>
              <a:t>账号卡符号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4F9604-5272-4B87-B704-234E7DB7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2895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君莫笑、沐雨橙风、夜雨声烦、一枪穿云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70E5E8-37EE-4687-A1CA-3403740F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24250"/>
            <a:ext cx="3238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64AC4A-E48C-4D80-98C4-CED7D9A7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242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AAA787-95F4-41A6-8B77-92C7CF14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95700"/>
            <a:ext cx="289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011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1F2A"/>
                </a:solidFill>
              </a:defRPr>
            </a:pPr>
            <a:r>
              <a:rPr sz="1500" b="1">
                <a:solidFill>
                  <a:srgbClr val="1B1F2A"/>
                </a:solidFill>
              </a:rPr>
              <a:t>经典台词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F32311-3933-4B01-9457-8172AC98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95750"/>
            <a:ext cx="2895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“荣耀不是一个人的游戏”等传播锚点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6F5E6F-3BD5-45FA-8354-6601F189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577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</a:defRPr>
            </a:pPr>
            <a:r>
              <a:rPr sz="1650" b="1">
                <a:solidFill>
                  <a:srgbClr val="17243A"/>
                </a:solidFill>
              </a:rPr>
              <a:t>视觉方向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9EC1CF-0448-4F52-BDC5-EEF4F7DE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3"/>
                </a:solidFill>
              </a:defRPr>
            </a:pPr>
            <a:r>
              <a:rPr sz="1350" b="0">
                <a:solidFill>
                  <a:srgbClr val="657083"/>
                </a:solidFill>
              </a:rPr>
              <a:t>黑金电竞基底 + 战队色分层 + 星轨/积分牌/票根等赛场元素。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4AEB3B-D2F5-4270-B766-73EA6DE2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3A5"/>
                </a:solidFill>
              </a:defRPr>
            </a:pPr>
            <a:r>
              <a:rPr sz="900" b="0">
                <a:solidFill>
                  <a:srgbClr val="8A93A5"/>
                </a:solidFill>
              </a:rPr>
              <a:t>《全职高手》衍生品策划案 | 原创示意图，不含未授权同人图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CAE04E-7E05-4D9B-BD3A-A106E916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397722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854240-8967-4BCE-A1F0-522E1166CA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ACE44-3C67-4030-8A22-FF188AB9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</a:defRPr>
            </a:pPr>
            <a:r>
              <a:rPr sz="2550" b="1">
                <a:solidFill>
                  <a:srgbClr val="17243A"/>
                </a:solidFill>
              </a:rPr>
              <a:t>用户画像：粉丝为什么买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C8E7C-A8E2-451B-B334-D61FA6CF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00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兼顾事业粉、单推、关系向、战队粉和展示收藏党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C8507D-0F9B-431E-8B91-EBBF8A22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0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4DD38-22E6-40CA-8FE3-B18360E6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2573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106CE-D2B0-44E0-A774-DBF8BB14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4040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事业粉/燃向粉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76770-6E94-4E4E-B79F-4F1DDAD2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581150"/>
            <a:ext cx="447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1F2A"/>
                </a:solidFill>
              </a:defRPr>
            </a:pPr>
            <a:r>
              <a:rPr sz="1425" b="0">
                <a:solidFill>
                  <a:srgbClr val="1B1F2A"/>
                </a:solidFill>
              </a:rPr>
              <a:t>买冠军叙事、职业精神、重回巅峰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B2422-93FD-48D3-9028-61F87DAD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8115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3"/>
                </a:solidFill>
              </a:defRPr>
            </a:pPr>
            <a:r>
              <a:rPr sz="1350" b="0">
                <a:solidFill>
                  <a:srgbClr val="657083"/>
                </a:solidFill>
              </a:rPr>
              <a:t>立牌 / 票根 / 纪念套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086E29-C232-4C9F-A4CA-051C20BE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10248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A16458-70B9-4B29-9CB7-B850915D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D6CDF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角色单推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BC11E4-76F9-49D7-8D7B-BFB5F4D4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00300"/>
            <a:ext cx="447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1F2A"/>
                </a:solidFill>
              </a:defRPr>
            </a:pPr>
            <a:r>
              <a:rPr sz="1425" b="0">
                <a:solidFill>
                  <a:srgbClr val="1B1F2A"/>
                </a:solidFill>
              </a:rPr>
              <a:t>重视本命立绘、编号、稀有款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AAB703-E3C8-4651-BC16-C5C57AC7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0030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3"/>
                </a:solidFill>
              </a:defRPr>
            </a:pPr>
            <a:r>
              <a:rPr sz="1350" b="0">
                <a:solidFill>
                  <a:srgbClr val="657083"/>
                </a:solidFill>
              </a:rPr>
              <a:t>吧唧 / 娃娃 / 亚克力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2C7EEB-693C-4A72-A86F-E540C742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10248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736DC7-DA37-40A6-96BD-927724B5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6C453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CP/关系向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A48CE6-0F24-4B29-BED6-D20E5FF1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19450"/>
            <a:ext cx="447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1F2A"/>
                </a:solidFill>
              </a:defRPr>
            </a:pPr>
            <a:r>
              <a:rPr sz="1425" b="0">
                <a:solidFill>
                  <a:srgbClr val="1B1F2A"/>
                </a:solidFill>
              </a:rPr>
              <a:t>嗑陪伴、宿敌、队友情、并肩作战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5F5A39-5E9F-4D59-B7C7-1E3E0150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1945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3"/>
                </a:solidFill>
              </a:defRPr>
            </a:pPr>
            <a:r>
              <a:rPr sz="1350" b="0">
                <a:solidFill>
                  <a:srgbClr val="657083"/>
                </a:solidFill>
              </a:rPr>
              <a:t>双人立牌 / 对卡 / 挂件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A46CF6-28E6-4784-B5E5-865D0090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10248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AD91F6-964F-4E0A-9459-920A784F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5D6BE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战队粉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823F51-D682-42BD-ACA8-30FCA5D5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38600"/>
            <a:ext cx="447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1F2A"/>
                </a:solidFill>
              </a:defRPr>
            </a:pPr>
            <a:r>
              <a:rPr sz="1425" b="0">
                <a:solidFill>
                  <a:srgbClr val="1B1F2A"/>
                </a:solidFill>
              </a:rPr>
              <a:t>把战队当身份标签，愿意成套收集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16B865-7E56-4A85-97F0-9C433C10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3860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3"/>
                </a:solidFill>
              </a:defRPr>
            </a:pPr>
            <a:r>
              <a:rPr sz="1350" b="0">
                <a:solidFill>
                  <a:srgbClr val="657083"/>
                </a:solidFill>
              </a:rPr>
              <a:t>痛包内胆 / 队服娃衣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84476B-24C5-4A06-B84C-54A7F2EF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10248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3C3837-C374-4AB8-A0C7-4F97C18A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展示收藏党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6F105A-1E70-4DCF-8431-5F00529D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857750"/>
            <a:ext cx="447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1F2A"/>
                </a:solidFill>
              </a:defRPr>
            </a:pPr>
            <a:r>
              <a:rPr sz="1425" b="0">
                <a:solidFill>
                  <a:srgbClr val="1B1F2A"/>
                </a:solidFill>
              </a:rPr>
              <a:t>追求晒图、痛包、痛桌、BlingBling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5B2712-928E-4472-A2E0-AA9E205D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5775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3"/>
                </a:solidFill>
              </a:defRPr>
            </a:pPr>
            <a:r>
              <a:rPr sz="1350" b="0">
                <a:solidFill>
                  <a:srgbClr val="657083"/>
                </a:solidFill>
              </a:rPr>
              <a:t>镭射吧唧 / 流沙立牌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59317F-4C37-4183-8F58-70473264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248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EB5726-26C1-4332-B1B7-5E39B597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3A5"/>
                </a:solidFill>
              </a:defRPr>
            </a:pPr>
            <a:r>
              <a:rPr sz="900" b="0">
                <a:solidFill>
                  <a:srgbClr val="8A93A5"/>
                </a:solidFill>
              </a:rPr>
              <a:t>《全职高手》衍生品策划案 | 原创示意图，不含未授权同人图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929121-1993-4473-A3EC-81699284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468261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854240-8967-4BCE-A1F0-522E1166CA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A7C2BE-BA0D-43B4-83DF-08222394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</a:defRPr>
            </a:pPr>
            <a:r>
              <a:rPr sz="2550" b="1">
                <a:solidFill>
                  <a:srgbClr val="17243A"/>
                </a:solidFill>
              </a:rPr>
              <a:t>产品矩阵：低价拉新，高价承接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323EF-0C32-4083-BC16-2B011702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00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让每类粉丝都有入口，也有升级路径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2E127-7A4D-4414-A1F6-D788C876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0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00175-E25C-45C8-A87E-0F5FF6BD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2573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08165303b349b5"/>
          <a:stretch xmlns:a="http://schemas.openxmlformats.org/drawingml/2006/main"/>
        </p:blipFill>
        <p:spPr>
          <a:xfrm xmlns:a="http://schemas.openxmlformats.org/drawingml/2006/main">
            <a:off x="762000" y="1352550"/>
            <a:ext cx="6858000" cy="4572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E69FF9-A9FA-4218-B66F-5A76BC17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24000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02B658-4783-43DC-8740-26E30E4C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240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0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2C89AA-E4D6-4FFF-BD2E-177BDCDC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95450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011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1F2A"/>
                </a:solidFill>
              </a:defRPr>
            </a:pPr>
            <a:r>
              <a:rPr sz="1500" b="1">
                <a:solidFill>
                  <a:srgbClr val="1B1F2A"/>
                </a:solidFill>
              </a:rPr>
              <a:t>拉新层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E6FFF-24FB-4A67-B097-4723B570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95500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吧唧、档案卡用随机和交换建立社群话题。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11B6D3-6256-4D0F-9B8A-09028B70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0375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5C8FA9-ABC2-4FF5-9F79-03522A68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0375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931A9E-0DA9-4380-B46D-83D7FFA0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71825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011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1F2A"/>
                </a:solidFill>
              </a:defRPr>
            </a:pPr>
            <a:r>
              <a:rPr sz="1500" b="1">
                <a:solidFill>
                  <a:srgbClr val="1B1F2A"/>
                </a:solidFill>
              </a:rPr>
              <a:t>展示层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F30DD8-B68B-4A3A-B1A9-14FB610D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71875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17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立牌、痛包满足桌面陈列和漫展出街。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A5931F-51A9-464F-83BB-84161A04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76750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1C53BF-2F5F-4D66-BD49-E949966E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76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90A818-B06E-4196-8638-B96260C2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48200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011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1F2A"/>
                </a:solidFill>
              </a:defRPr>
            </a:pPr>
            <a:r>
              <a:rPr sz="1500" b="1">
                <a:solidFill>
                  <a:srgbClr val="1B1F2A"/>
                </a:solidFill>
              </a:rPr>
              <a:t>高客单层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64336F-388A-4DA8-ABAA-4703CBC6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48250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689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棉花娃娃、娃衣和内胆做长期复购。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88A505-A4CF-48D8-89A3-004CF456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3A5"/>
                </a:solidFill>
              </a:defRPr>
            </a:pPr>
            <a:r>
              <a:rPr sz="900" b="0">
                <a:solidFill>
                  <a:srgbClr val="8A93A5"/>
                </a:solidFill>
              </a:rPr>
              <a:t>《全职高手》衍生品策划案 | 原创示意图，不含未授权同人图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AC6B73-23A1-4451-960D-7D803181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17770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854240-8967-4BCE-A1F0-522E1166CA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408E4-5462-4934-A67C-DABF9D03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</a:defRPr>
            </a:pPr>
            <a:r>
              <a:rPr sz="2550" b="1">
                <a:solidFill>
                  <a:srgbClr val="17243A"/>
                </a:solidFill>
              </a:rPr>
              <a:t>SKU 1：荣耀星轨吧唧套组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4C090-0892-48AC-BEF4-47C22A98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00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轻量引流款，适合抽赏、交换和痛包阵列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DEAB2-F2A1-4AE0-B5BE-F8072187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0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CEC27-AF5C-4CA0-9513-292D6BF1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2573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b9a27d201d4a63"/>
          <a:stretch xmlns:a="http://schemas.openxmlformats.org/drawingml/2006/main"/>
        </p:blipFill>
        <p:spPr>
          <a:xfrm xmlns:a="http://schemas.openxmlformats.org/drawingml/2006/main">
            <a:off x="538163" y="1466850"/>
            <a:ext cx="5800725" cy="38671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EC9BD-10E1-4DB9-ADAC-0B06E097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62100"/>
            <a:ext cx="4000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3F139-7BA2-4042-BD2E-42C08ECB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621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0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C65EE-9727-4C01-B953-EDE8FAE8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33550"/>
            <a:ext cx="3657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011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1F2A"/>
                </a:solidFill>
              </a:defRPr>
            </a:pPr>
            <a:r>
              <a:rPr sz="1500" b="1">
                <a:solidFill>
                  <a:srgbClr val="1B1F2A"/>
                </a:solidFill>
              </a:rPr>
              <a:t>产品建议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B7DCC3-7109-4500-9534-A79B0C21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33600"/>
            <a:ext cx="3657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58mm 单角色吧唧，首发 8 款 + 叶修隐藏变色款；按角色和战队色拆分。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D41B54-7285-4D4D-8B93-4C6DB37A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71800"/>
            <a:ext cx="4000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EA172C-E7A0-43D6-B280-23CD87AA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718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B81ED-68F4-42E5-B06C-F3CFA18D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43250"/>
            <a:ext cx="3657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011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1F2A"/>
                </a:solidFill>
              </a:defRPr>
            </a:pPr>
            <a:r>
              <a:rPr sz="1500" b="1">
                <a:solidFill>
                  <a:srgbClr val="1B1F2A"/>
                </a:solidFill>
              </a:rPr>
              <a:t>工艺建议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864042-931D-4341-B5F0-7F9829A7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43300"/>
            <a:ext cx="3657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620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双层满天星镭射 + 局部烫金队徽边框 + 隐藏款变色膜。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BC1692-5A73-4E10-B47C-433ACEF4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81500"/>
            <a:ext cx="4000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071494-299E-4E6B-8766-5C78E544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815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D73438-9568-4AD1-964B-23BFC5AF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52950"/>
            <a:ext cx="3657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011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1F2A"/>
                </a:solidFill>
              </a:defRPr>
            </a:pPr>
            <a:r>
              <a:rPr sz="1500" b="1">
                <a:solidFill>
                  <a:srgbClr val="1B1F2A"/>
                </a:solidFill>
              </a:rPr>
              <a:t>商业作用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842008-092A-4EC6-A847-AC770CC4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953000"/>
            <a:ext cx="3657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低价进入、强晒图、强交换，是后续痛包和档案卡复购的流量入口。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C9C5F8-8C1D-49DA-8A95-3CFA85FC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3A5"/>
                </a:solidFill>
              </a:defRPr>
            </a:pPr>
            <a:r>
              <a:rPr sz="900" b="0">
                <a:solidFill>
                  <a:srgbClr val="8A93A5"/>
                </a:solidFill>
              </a:rPr>
              <a:t>《全职高手》衍生品策划案 | 原创示意图，不含未授权同人图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609495-75D4-411B-BF49-97AE5C7D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986950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854240-8967-4BCE-A1F0-522E1166CA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2F7A8-9ECA-4847-B102-28930607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</a:defRPr>
            </a:pPr>
            <a:r>
              <a:rPr sz="2550" b="1">
                <a:solidFill>
                  <a:srgbClr val="17243A"/>
                </a:solidFill>
              </a:rPr>
              <a:t>SKU 2：兴欣冠军入场亚克力立牌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5519ED-6C5A-446C-A69E-43DB2A1A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00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展示向主推款，承接第三季收官情绪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F44E1A-C12F-47ED-A9F9-54D4C0DE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0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E3390-B535-4E68-A590-38106E72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2573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17f35f66e147c3"/>
          <a:stretch xmlns:a="http://schemas.openxmlformats.org/drawingml/2006/main"/>
        </p:blipFill>
        <p:spPr>
          <a:xfrm xmlns:a="http://schemas.openxmlformats.org/drawingml/2006/main">
            <a:off x="476250" y="1379538"/>
            <a:ext cx="6477000" cy="4318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679A5-528A-4D16-8292-9F12DA5B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859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777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43A"/>
                </a:solidFill>
              </a:defRPr>
            </a:pPr>
            <a:r>
              <a:rPr sz="2100" b="1">
                <a:solidFill>
                  <a:srgbClr val="17243A"/>
                </a:solidFill>
              </a:rPr>
              <a:t>卖点组合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1D79F-0C5B-4B52-B266-5968B3D0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38350"/>
            <a:ext cx="3429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B1F2A"/>
                </a:solidFill>
              </a:defRPr>
            </a:pPr>
            <a:r>
              <a:rPr sz="1650" b="0">
                <a:solidFill>
                  <a:srgbClr val="1B1F2A"/>
                </a:solidFill>
              </a:rPr>
              <a:t>• 官方授权叶修/君莫笑立绘</a:t>
            </a:r>
          </a:p>
          <a:p xmlns:a="http://schemas.openxmlformats.org/drawingml/2006/main">
            <a:pPr algn="l">
              <a:defRPr sz="1650" b="0">
                <a:solidFill>
                  <a:srgbClr val="1B1F2A"/>
                </a:solidFill>
              </a:defRPr>
            </a:pPr>
            <a:r>
              <a:rPr sz="1650" b="0">
                <a:solidFill>
                  <a:srgbClr val="1B1F2A"/>
                </a:solidFill>
              </a:rPr>
              <a:t>• 千机伞武器副件</a:t>
            </a:r>
          </a:p>
          <a:p xmlns:a="http://schemas.openxmlformats.org/drawingml/2006/main">
            <a:pPr algn="l">
              <a:defRPr sz="1650" b="0">
                <a:solidFill>
                  <a:srgbClr val="1B1F2A"/>
                </a:solidFill>
              </a:defRPr>
            </a:pPr>
            <a:r>
              <a:rPr sz="1650" b="0">
                <a:solidFill>
                  <a:srgbClr val="1B1F2A"/>
                </a:solidFill>
              </a:rPr>
              <a:t>• 竞技场积分牌底座</a:t>
            </a:r>
          </a:p>
          <a:p xmlns:a="http://schemas.openxmlformats.org/drawingml/2006/main">
            <a:pPr algn="l">
              <a:defRPr sz="1650" b="0">
                <a:solidFill>
                  <a:srgbClr val="1B1F2A"/>
                </a:solidFill>
              </a:defRPr>
            </a:pPr>
            <a:r>
              <a:rPr sz="1650" b="0">
                <a:solidFill>
                  <a:srgbClr val="1B1F2A"/>
                </a:solidFill>
              </a:rPr>
              <a:t>• 可拓展兴欣全员插片</a:t>
            </a:r>
          </a:p>
          <a:p xmlns:a="http://schemas.openxmlformats.org/drawingml/2006/main">
            <a:pPr algn="l">
              <a:defRPr sz="1650" b="0">
                <a:solidFill>
                  <a:srgbClr val="1B1F2A"/>
                </a:solidFill>
              </a:defRPr>
            </a:pPr>
            <a:r>
              <a:rPr sz="1650" b="0">
                <a:solidFill>
                  <a:srgbClr val="1B1F2A"/>
                </a:solidFill>
              </a:rPr>
              <a:t>• 限定编号增加收藏感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D955FD-9422-43D3-BBCE-CAD3625F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95750"/>
            <a:ext cx="3143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19050">
            <a:solidFill>
              <a:srgbClr val="F6C45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3A1BCE-D809-497D-A978-741EC967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19575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6016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建议售价：89-129 元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重点人群：事业粉 / 展示收藏党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ED51CE-6DD8-4C47-90EC-DB9647FE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3A5"/>
                </a:solidFill>
              </a:defRPr>
            </a:pPr>
            <a:r>
              <a:rPr sz="900" b="0">
                <a:solidFill>
                  <a:srgbClr val="8A93A5"/>
                </a:solidFill>
              </a:rPr>
              <a:t>《全职高手》衍生品策划案 | 原创示意图，不含未授权同人图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CC25BE-80C4-4DB7-B5CF-916BE424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829388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854240-8967-4BCE-A1F0-522E1166CA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77D32-582E-49AB-85C0-790BD332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</a:defRPr>
            </a:pPr>
            <a:r>
              <a:rPr sz="2550" b="1">
                <a:solidFill>
                  <a:srgbClr val="17243A"/>
                </a:solidFill>
              </a:rPr>
              <a:t>SKU 3/4：棉花娃娃 + 痛包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AE10D-F820-4B79-823F-6F2D7CF7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00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用陪伴和展示把客单价抬上去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1BF7F-3341-45E8-974D-970CA02C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0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8B016-1B0D-45B4-9362-BDBCAE78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2573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48b73a14124944"/>
          <a:stretch xmlns:a="http://schemas.openxmlformats.org/drawingml/2006/main"/>
        </p:blipFill>
        <p:spPr>
          <a:xfrm xmlns:a="http://schemas.openxmlformats.org/drawingml/2006/main">
            <a:off x="514350" y="1428750"/>
            <a:ext cx="5143500" cy="3429000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bf7539c20b4fa3"/>
          <a:stretch xmlns:a="http://schemas.openxmlformats.org/drawingml/2006/main"/>
        </p:blipFill>
        <p:spPr>
          <a:xfrm xmlns:a="http://schemas.openxmlformats.org/drawingml/2006/main">
            <a:off x="6096000" y="1428750"/>
            <a:ext cx="5143500" cy="3429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1D6E6-4553-4C18-8C82-817BBBBE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4762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E9069-2399-43E6-9A69-7BC55983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DFB71-E681-4CEA-BDF4-89439013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14950"/>
            <a:ext cx="441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011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1F2A"/>
                </a:solidFill>
              </a:defRPr>
            </a:pPr>
            <a:r>
              <a:rPr sz="1500" b="1">
                <a:solidFill>
                  <a:srgbClr val="1B1F2A"/>
                </a:solidFill>
              </a:rPr>
              <a:t>棉花娃娃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03F156-9A38-4558-A0DD-E4668127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15000"/>
            <a:ext cx="4419600" cy="-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10cm/15cm 双规格，刺绣眼、可拆队服、磁吸小道具，后续做娃衣复购。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8CCCA7-39C7-4A92-A577-8622FBD2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43500"/>
            <a:ext cx="4762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44D928-0B41-40BD-8B9A-13EB865C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435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2446E3-77F3-42C3-BC11-62E27678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14950"/>
            <a:ext cx="441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011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1F2A"/>
                </a:solidFill>
              </a:defRPr>
            </a:pPr>
            <a:r>
              <a:rPr sz="1500" b="1">
                <a:solidFill>
                  <a:srgbClr val="1B1F2A"/>
                </a:solidFill>
              </a:rPr>
              <a:t>痛包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8D3E93-3939-4C81-8B35-86F36931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715000"/>
            <a:ext cx="4419600" cy="-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透明 PVC 展示窗、可替换战队色内胆，购买痛包赠通贩吧唧。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F4BF72-F740-4A52-8C28-A62AEAA0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3A5"/>
                </a:solidFill>
              </a:defRPr>
            </a:pPr>
            <a:r>
              <a:rPr sz="900" b="0">
                <a:solidFill>
                  <a:srgbClr val="8A93A5"/>
                </a:solidFill>
              </a:rPr>
              <a:t>《全职高手》衍生品策划案 | 原创示意图，不含未授权同人图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351413-982D-4407-83E9-B0FC387C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811660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854240-8967-4BCE-A1F0-522E1166CA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EBA3F-4DA8-4F6A-A055-1C162199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</a:defRPr>
            </a:pPr>
            <a:r>
              <a:rPr sz="2550" b="1">
                <a:solidFill>
                  <a:srgbClr val="17243A"/>
                </a:solidFill>
              </a:rPr>
              <a:t>SKU 5 与工艺总表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D1BF33-6A79-42A1-99FA-D8FFE6FD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00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档案卡承担复购，工艺承担晒图价值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C6B05E-FF67-4221-BDB5-3B5789B7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0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9A4D9-1A4C-4C84-8E2D-913F39D8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2573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f718947b554e56"/>
          <a:stretch xmlns:a="http://schemas.openxmlformats.org/drawingml/2006/main"/>
        </p:blipFill>
        <p:spPr>
          <a:xfrm xmlns:a="http://schemas.openxmlformats.org/drawingml/2006/main">
            <a:off x="552450" y="1492250"/>
            <a:ext cx="4953000" cy="3302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4672A-5142-4352-AC58-F64D37CE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47625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1DDA1F-0FE2-41C8-9AEC-AC5483CF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7864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</a:defRPr>
            </a:pPr>
            <a:r>
              <a:rPr sz="1875" b="1">
                <a:solidFill>
                  <a:srgbClr val="17243A"/>
                </a:solidFill>
              </a:rPr>
              <a:t>工艺建议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8C948-B50B-439D-A431-879773B7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1104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4040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吧唧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29EFF-930E-45CD-A34F-3526F976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1457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双层满天星镭射 / 局部烫金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56FAC3-878F-473F-AFC3-D3A03F86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28925"/>
            <a:ext cx="1104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D6CDF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立牌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C51265-CA00-4EFA-9013-E148115D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0987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3mm 透明亚克力 / 白墨 / 流沙底座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B10C97-99C5-4E6C-89C1-E0D0E6E6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24225"/>
            <a:ext cx="1104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6C453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棉花娃娃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EF4203-231A-4FF0-8A69-BD229CF7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0517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刺绣眼 / 可拆队服 / 磁吸道具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C2F2FF-2177-4E47-BB2D-F31FD2AE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9525"/>
            <a:ext cx="1104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痛包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73A600-93DE-4F68-8393-3C509290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0047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透明 PVC 窗 / 可替换内胆 / 金属拉牌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EF5322-7F52-4330-9B07-D5C5F0B5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4825"/>
            <a:ext cx="1104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5D6BE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档案卡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AC207F-2CE6-4F2D-9A40-BEAA040D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9577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B1F2A"/>
                </a:solidFill>
              </a:defRPr>
            </a:pPr>
            <a:r>
              <a:rPr sz="1275" b="0">
                <a:solidFill>
                  <a:srgbClr val="1B1F2A"/>
                </a:solidFill>
              </a:rPr>
              <a:t>PET 闪卡 / 局部 UV / 烫金编号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3F1CF4-E2B7-40EF-BB4D-3E9B4D08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3A5"/>
                </a:solidFill>
              </a:defRPr>
            </a:pPr>
            <a:r>
              <a:rPr sz="900" b="0">
                <a:solidFill>
                  <a:srgbClr val="8A93A5"/>
                </a:solidFill>
              </a:rPr>
              <a:t>《全职高手》衍生品策划案 | 原创示意图，不含未授权同人图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249A3E-7E4F-4BA2-8AB7-93F90A7C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38530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854240-8967-4BCE-A1F0-522E1166CA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AFDAF-FB04-40A7-9917-C476D5C8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</a:defRPr>
            </a:pPr>
            <a:r>
              <a:rPr sz="2550" b="1">
                <a:solidFill>
                  <a:srgbClr val="17243A"/>
                </a:solidFill>
              </a:rPr>
              <a:t>线上抽赏：一发入魂 + 保底兑换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65EC8-E001-4699-AC8F-62AC8FDB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00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用随机刺激传播，用保底降低负反馈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9EEF0C-58B1-4F6F-8D7F-EF6B499C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0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B1C40-1B02-4B25-8060-DD6F9B57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2573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878F6B-C734-424E-BFF6-40602BE7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209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6C45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C77F3-8394-455D-9D8F-8C598BCA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6690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76459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 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D8159-3E0C-425B-9364-213BFDA7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1600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棉花娃娃 / 痛包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51AEE-BA16-430E-9300-F0B7FA9E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57350"/>
            <a:ext cx="209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2D6CD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4B0D0F-3271-4119-9F61-4AD7574D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86690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76459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B 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E1588D-8C8A-4266-90B0-702FA9B6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62200"/>
            <a:ext cx="1600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亚克力立牌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36789F-6630-4E2D-9AE6-F486176A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57350"/>
            <a:ext cx="209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9404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EE6FB6-698D-4400-8E1C-27DF243D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6690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76459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 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1FFC7A-79C6-45FB-9885-6AE572AB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62200"/>
            <a:ext cx="1600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镭射吧唧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305BCF-3F70-439B-9B71-5574181C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57350"/>
            <a:ext cx="209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55D6B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B8A4DE-5727-44B8-86E2-335EE47D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6690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76459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D 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1D4EC7-B22B-4889-8BFB-FD1E26AC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62200"/>
            <a:ext cx="1600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档案卡 / 贴纸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902EF1-6F5B-4A0C-A9AE-63F84168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43300"/>
            <a:ext cx="30003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CCE483-5A07-43A3-A039-950D377D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433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0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DEB9B4-3BBE-4187-8C31-85EE6E85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714750"/>
            <a:ext cx="26574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011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1F2A"/>
                </a:solidFill>
              </a:defRPr>
            </a:pPr>
            <a:r>
              <a:rPr sz="1500" b="1">
                <a:solidFill>
                  <a:srgbClr val="1B1F2A"/>
                </a:solidFill>
              </a:rPr>
              <a:t>价格机制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FD7742-1CA1-4D35-A0DA-322F5175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114800"/>
            <a:ext cx="26574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29 元/抽，99 元/五连抽；80 抽保底兑换核心奖项。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F50F63-0926-4EB5-83B6-C42D7673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43300"/>
            <a:ext cx="30003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C84EB2-9BCE-4092-BD8E-54DD69D2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433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C1C112-E22B-47B8-8D2D-DCE9F72F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14750"/>
            <a:ext cx="26574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011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1F2A"/>
                </a:solidFill>
              </a:defRPr>
            </a:pPr>
            <a:r>
              <a:rPr sz="1500" b="1">
                <a:solidFill>
                  <a:srgbClr val="1B1F2A"/>
                </a:solidFill>
              </a:rPr>
              <a:t>传播机制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D28B32-7645-4116-B997-1FCA3C70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14800"/>
            <a:ext cx="26574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晒单带话题返场抽奖，抽中隐藏款自动生成分享海报。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589A7D-7A17-4BF1-AF02-128EA60B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543300"/>
            <a:ext cx="30003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AA7DE3-AF5C-47F7-A7AB-DCDBFAE5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5433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E3AF97-1FBB-4520-AEB0-D427B8BE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714750"/>
            <a:ext cx="26574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011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1F2A"/>
                </a:solidFill>
              </a:defRPr>
            </a:pPr>
            <a:r>
              <a:rPr sz="1500" b="1">
                <a:solidFill>
                  <a:srgbClr val="1B1F2A"/>
                </a:solidFill>
              </a:rPr>
              <a:t>角色机制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92B0C5-F6AF-4807-A9C7-939BE005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114800"/>
            <a:ext cx="26574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叶修隐藏款首发，后续按角色生日做小批返场。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F5101D-66B2-4B04-BA52-DC8083FC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3A5"/>
                </a:solidFill>
              </a:defRPr>
            </a:pPr>
            <a:r>
              <a:rPr sz="900" b="0">
                <a:solidFill>
                  <a:srgbClr val="8A93A5"/>
                </a:solidFill>
              </a:rPr>
              <a:t>《全职高手》衍生品策划案 | 原创示意图，不含未授权同人图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FEE467-C11F-4425-984A-98CB6486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83630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854240-8967-4BCE-A1F0-522E1166CA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432B9-9AC2-4EAD-B6AB-889B5CD9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</a:defRPr>
            </a:pPr>
            <a:r>
              <a:rPr sz="2550" b="1">
                <a:solidFill>
                  <a:srgbClr val="17243A"/>
                </a:solidFill>
              </a:rPr>
              <a:t>线下展会：集邮无料打卡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C0A21D-2D16-41AA-B78C-1CFD664F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00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把购买行为转成社交内容和二次到场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D1091-9BD2-490F-8335-B2427A22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0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CE9C76-4E04-4CFD-AA7C-C072854F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2573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30917-E706-43AE-8D51-DEE78EAA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04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93B14-8156-4F6D-9A93-C8AB55F6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438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76459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F74F3-099B-49BA-A69B-524BB905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B1F2A"/>
                </a:solidFill>
              </a:defRPr>
            </a:pPr>
            <a:r>
              <a:rPr sz="1500" b="1">
                <a:solidFill>
                  <a:srgbClr val="1B1F2A"/>
                </a:solidFill>
              </a:rPr>
              <a:t>入场领取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67A321-265B-458F-A6A2-FBC6C158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33375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荣耀补给册 + 战队路线图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7291E9-7F27-4114-A978-5353BF30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14550"/>
            <a:ext cx="8763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D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B76766-1406-4A77-9A8B-0733B253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57375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BAF356-A8F9-45E4-B967-2563FF54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19300"/>
            <a:ext cx="438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76459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59AE71-E975-4ADB-9AB0-13DD7441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33700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B1F2A"/>
                </a:solidFill>
              </a:defRPr>
            </a:pPr>
            <a:r>
              <a:rPr sz="1500" b="1">
                <a:solidFill>
                  <a:srgbClr val="1B1F2A"/>
                </a:solidFill>
              </a:rPr>
              <a:t>五站集邮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F4D82A-9B6C-4F26-92A4-DAF207E1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3375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兴欣 / 蓝雨 / 轮回 / 微草 / 霸图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81EB4E-E0BE-4FFD-B69B-3AEF8491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14550"/>
            <a:ext cx="8763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D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10C080-8AB2-408E-A594-2511A08D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57375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BCC7E-E96F-40F3-9CF4-625F3479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19300"/>
            <a:ext cx="438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76459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D4041E-7BC7-4285-99A5-EBDB2513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33700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B1F2A"/>
                </a:solidFill>
              </a:defRPr>
            </a:pPr>
            <a:r>
              <a:rPr sz="1500" b="1">
                <a:solidFill>
                  <a:srgbClr val="1B1F2A"/>
                </a:solidFill>
              </a:rPr>
              <a:t>痛包巡游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F22AFA-B52C-4F2D-8E1B-544AB75D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3375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佩戴痛包或角色色系服装可盖隐藏章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F4F8E8-EB32-4B39-A9A1-163C3776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14550"/>
            <a:ext cx="8763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D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1BE2D9-32EF-4206-9402-6441DBFA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57375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6BE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3031F3-B4A6-4006-BDAC-5F5F1797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19300"/>
            <a:ext cx="438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76459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112FB2-B4D4-4CA2-95C5-228FC74B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33700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B1F2A"/>
                </a:solidFill>
              </a:defRPr>
            </a:pPr>
            <a:r>
              <a:rPr sz="1500" b="1">
                <a:solidFill>
                  <a:srgbClr val="1B1F2A"/>
                </a:solidFill>
              </a:rPr>
              <a:t>兑换无料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3F998C-AC5A-4D12-8F5B-FCC38F22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3375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限定贴纸 / 卡套 / 生日小卡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701D04-EFE8-44F4-9D91-53C0A19B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14550"/>
            <a:ext cx="8763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D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547495-18A4-4930-82E0-BB88AE20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57375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B4C98C-9B9D-4ADD-A733-89A7C699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19300"/>
            <a:ext cx="438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76459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293E18-B4E4-4F78-B5DB-D97F4C11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33700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B1F2A"/>
                </a:solidFill>
              </a:defRPr>
            </a:pPr>
            <a:r>
              <a:rPr sz="1500" b="1">
                <a:solidFill>
                  <a:srgbClr val="1B1F2A"/>
                </a:solidFill>
              </a:rPr>
              <a:t>晒单返场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A656B7-7806-444E-B329-1B456111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3375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UGC 进入二次抽奖池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F4ED4B-B4C5-4A17-9661-C63E705D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1000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43A"/>
                </a:solidFill>
              </a:defRPr>
            </a:pPr>
            <a:r>
              <a:rPr sz="1800" b="1">
                <a:solidFill>
                  <a:srgbClr val="17243A"/>
                </a:solidFill>
              </a:rPr>
              <a:t>重点节点：叶修生日档、暑期漫展、动画周年；现场主视觉统一为“荣耀赛季补给站”。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A8613C-572D-45B4-B72A-6FD44D59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3A5"/>
                </a:solidFill>
              </a:defRPr>
            </a:pPr>
            <a:r>
              <a:rPr sz="900" b="0">
                <a:solidFill>
                  <a:srgbClr val="8A93A5"/>
                </a:solidFill>
              </a:rPr>
              <a:t>《全职高手》衍生品策划案 | 原创示意图，不含未授权同人图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D28215-6D3D-44D3-B5FE-2C15DCD1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800062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854240-8967-4BCE-A1F0-522E1166CA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CB4C0-59EF-4239-9288-59CDA722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685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4855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排期、KPI 与素材合规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A8368-1544-430C-BF4E-6FDC18FD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011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CE8F7"/>
                </a:solidFill>
              </a:defRPr>
            </a:pPr>
            <a:r>
              <a:rPr sz="1500" b="0">
                <a:solidFill>
                  <a:srgbClr val="DCE8F7"/>
                </a:solidFill>
              </a:rPr>
              <a:t>从授权素材确认到线上首发，建议 8 周打样排期；线下在 T+2 至 T+6 周承接传播。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8C50B-EF9C-481A-AD1F-C2730C6C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1809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14288">
            <a:solidFill>
              <a:srgbClr val="FFFFFF">
                <a:alpha val="26667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8DC199-9555-4D5C-BBE9-747E8F1E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73728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6C453"/>
                </a:solidFill>
              </a:defRPr>
            </a:pPr>
            <a:r>
              <a:rPr sz="1500" b="1">
                <a:solidFill>
                  <a:srgbClr val="F6C453"/>
                </a:solidFill>
              </a:rPr>
              <a:t>T-8 至 T-6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2FD0B9-D8E5-4CE9-8E4B-A17B547A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授权立绘清单、角色优先级、供应商确认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BD85E-A45F-44D3-BD60-37471998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81200"/>
            <a:ext cx="1809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14288">
            <a:solidFill>
              <a:srgbClr val="FFFFFF">
                <a:alpha val="26667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8F4414-FA5C-4D30-8EAD-B025CA76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336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73728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6C453"/>
                </a:solidFill>
              </a:defRPr>
            </a:pPr>
            <a:r>
              <a:rPr sz="1500" b="1">
                <a:solidFill>
                  <a:srgbClr val="F6C453"/>
                </a:solidFill>
              </a:rPr>
              <a:t>T-6 至 T-3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63C3DD-C072-4218-AAE4-23A2C987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336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打样、工艺公开、角色投票和预约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E14055-5B3C-4459-BD23-13B0584B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981200"/>
            <a:ext cx="1809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14288">
            <a:solidFill>
              <a:srgbClr val="FFFFFF">
                <a:alpha val="26667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093FA-ABAF-46D4-881F-F347C484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336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73728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6C453"/>
                </a:solidFill>
              </a:defRPr>
            </a:pPr>
            <a:r>
              <a:rPr sz="1500" b="1">
                <a:solidFill>
                  <a:srgbClr val="F6C453"/>
                </a:solidFill>
              </a:rPr>
              <a:t>T 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33961E-6151-4A86-B369-359207EB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336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线上抽赏首发、五连优惠、晒单返场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C41764-9E51-45E9-AE5F-1316896E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81200"/>
            <a:ext cx="1809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14288">
            <a:solidFill>
              <a:srgbClr val="FFFFFF">
                <a:alpha val="26667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A1D7F5-BFCA-4958-B9EB-D4182CEC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336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73728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6C453"/>
                </a:solidFill>
              </a:defRPr>
            </a:pPr>
            <a:r>
              <a:rPr sz="1500" b="1">
                <a:solidFill>
                  <a:srgbClr val="F6C453"/>
                </a:solidFill>
              </a:rPr>
              <a:t>T+2 至 T+6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16ED20-0C26-4167-AD72-8B6DA501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336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快闪/漫展集邮、痛包巡游、生日补给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3258FD-A95D-43AE-930F-2CB6BED9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81200"/>
            <a:ext cx="1809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14288">
            <a:solidFill>
              <a:srgbClr val="FFFFFF">
                <a:alpha val="26667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431935-C43B-4A6E-905F-343D3C21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336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73728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6C453"/>
                </a:solidFill>
              </a:defRPr>
            </a:pPr>
            <a:r>
              <a:rPr sz="1500" b="1">
                <a:solidFill>
                  <a:srgbClr val="F6C453"/>
                </a:solidFill>
              </a:rPr>
              <a:t>T+8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5685A2-C84C-4974-BB32-AB091D2E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336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复盘补货，开启娃衣/内胆二期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F3757F-2814-4C0C-AF01-A100E398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4838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90D955-67F0-42AB-A6BF-417F9F15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6144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A"/>
                </a:solidFill>
              </a:defRPr>
            </a:pPr>
            <a:r>
              <a:rPr sz="1800" b="1">
                <a:solidFill>
                  <a:srgbClr val="17243A"/>
                </a:solidFill>
              </a:rPr>
              <a:t>KPI 建议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432AB3-D8FD-4331-8CE0-24E765A7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400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73297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1F2A"/>
                </a:solidFill>
              </a:defRPr>
            </a:pPr>
            <a:r>
              <a:rPr sz="1425" b="0">
                <a:solidFill>
                  <a:srgbClr val="1B1F2A"/>
                </a:solidFill>
              </a:rPr>
              <a:t>预约提醒 5 万+ / 首发售罄率 70%+ / 客单价 99 元+ / 线下 UGC 3000+ / 退换率 &lt; 3%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B3A798-1446-4FB6-8D1C-EE0E5A51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91000"/>
            <a:ext cx="4838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C78740-914A-4E4C-8520-3E68D677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434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6144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A"/>
                </a:solidFill>
              </a:defRPr>
            </a:pPr>
            <a:r>
              <a:rPr sz="1800" b="1">
                <a:solidFill>
                  <a:srgbClr val="17243A"/>
                </a:solidFill>
              </a:rPr>
              <a:t>素材合规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EB389B-8017-4B0F-8836-456BF5DC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62500"/>
            <a:ext cx="400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73297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1F2A"/>
                </a:solidFill>
              </a:defRPr>
            </a:pPr>
            <a:r>
              <a:rPr sz="1425" b="0">
                <a:solidFill>
                  <a:srgbClr val="1B1F2A"/>
                </a:solidFill>
              </a:rPr>
              <a:t>量产使用官方授权立绘、设定稿或签署商业授权的画师稿；未授权互联网同人图不进入生产文件。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F619FE-7445-4CA6-8DC4-7F7C4EA7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90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7561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0D7"/>
                </a:solidFill>
              </a:defRPr>
            </a:pPr>
            <a:r>
              <a:rPr sz="975" b="0">
                <a:solidFill>
                  <a:srgbClr val="AFC0D7"/>
                </a:solidFill>
              </a:rPr>
              <a:t>参考来源：新浪财经/中国青年报、TechWeb/新浪科技、MAIGOO、中国银行宏观观察、艺恩行业洞察。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1C34B3-E46F-4975-BFF9-DBD75D8E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3A5"/>
                </a:solidFill>
              </a:defRPr>
            </a:pPr>
            <a:r>
              <a:rPr sz="900" b="0">
                <a:solidFill>
                  <a:srgbClr val="8A93A5"/>
                </a:solidFill>
              </a:rPr>
              <a:t>《全职高手》衍生品策划案 | 原创示意图，不含未授权同人图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77BF5D-484E-4C60-A940-08DEE727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83"/>
                </a:solidFill>
              </a:defRPr>
            </a:pPr>
            <a:r>
              <a:rPr sz="1200" b="0">
                <a:solidFill>
                  <a:srgbClr val="657083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32546274"/>
      </p:ext>
    </p:extLst>
  </p:cSld>
</p:sld>
</file>

<file path=ppt/theme/theme1.xml><?xml version="1.0" encoding="utf-8"?>
<a:theme xmlns:a="http://schemas.openxmlformats.org/drawingml/2006/main" name="Glory Merchandise">
  <a:themeElements>
    <a:clrScheme name="Glory Merchandise">
      <a:accent1>
        <a:srgbClr val="D94040"/>
      </a:accent1>
      <a:accent2>
        <a:srgbClr val="2D6CDF"/>
      </a:accent2>
      <a:accent3>
        <a:srgbClr val="F6C453"/>
      </a:accent3>
      <a:accent4>
        <a:srgbClr val="55D6BE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lory Merchandis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2026-05-12T19:49:26.7900000Z</dcterms:created>
  <dcterms:modified xsi:type="dcterms:W3CDTF">2026-05-12T19:49:26.7900000Z</dcterms:modified>
</coreProperties>
</file>